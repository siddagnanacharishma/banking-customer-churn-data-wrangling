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97" d="100"/>
          <a:sy n="97" d="100"/>
        </p:scale>
        <p:origin x="14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9AA98-FA95-9CA2-F136-B69679731D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3ECD34-934F-0DA7-C883-F4F1B1D1F8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6F5D7-5467-9F8E-7BD9-67F5D5246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CC278-EA5F-4338-8FF2-54E33872E2E1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7ED4F-1E27-1CAE-09EF-DE43A684E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7768DE-A494-B72D-C3EF-00427B31B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89B37-ACA6-4C6D-83ED-7FD0BAABD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30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357DE-58D5-5C44-CA16-ECDC51C9C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87269-FC9A-0FC0-0AC5-B9455204C8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25F56F-D4BC-D906-C9BD-EB75EA3A1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CC278-EA5F-4338-8FF2-54E33872E2E1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2E17F-264E-D217-74D5-EB5295E80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BFF45-53B2-AA35-EE99-4E4493D0F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89B37-ACA6-4C6D-83ED-7FD0BAABD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8113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6ADA1-DDB8-B8F7-32FA-0FAA0A674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1278B7-01BB-B282-E501-3445B58AE9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2930B2-C813-CDBF-472D-8F15CC894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CC278-EA5F-4338-8FF2-54E33872E2E1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9CE67-1D93-687A-537D-98CEF45B2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A5AE0-3378-C3D0-FCC0-D33E97849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89B37-ACA6-4C6D-83ED-7FD0BAABD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1548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691ED-BD94-204C-469D-945037283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6169B-60CB-EEE9-967E-21C6D3043C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1443D5-587C-7E2E-C07F-267F46B116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891EF4-E2EB-CA90-04F7-C7EA4F8C3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CC278-EA5F-4338-8FF2-54E33872E2E1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859BB7-F155-46B7-F4E9-B4EA12EA0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4116AD-6893-876C-AADC-E5DD2B639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89B37-ACA6-4C6D-83ED-7FD0BAABD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6659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97A4C-F939-595F-1C12-5EAFC148C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EB4B4E-3424-D0C8-D9AA-9B30653293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64B0C2-9A77-9DFE-C54B-10AF2900A7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B16D35-28A0-4F76-54B7-6F79CF4C94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70506-B59E-85E2-0AAC-0CCEAD1977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900959-2B2C-5212-56D5-6FE491CBF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CC278-EA5F-4338-8FF2-54E33872E2E1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1B7C5D-75C1-7B0F-FB36-EEAF95B6D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291EFD-741F-5C21-CDE1-2136DF51E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89B37-ACA6-4C6D-83ED-7FD0BAABD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9412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C31C9-F98E-9EEB-F59E-33CB54C06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0A1B21-67E9-B28E-33DB-663C07AC6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CC278-EA5F-4338-8FF2-54E33872E2E1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3C50CB-CE50-F503-4BF9-0BDE60107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BC8904-6D81-7770-08CF-68382388A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89B37-ACA6-4C6D-83ED-7FD0BAABD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9809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726CF4-49F9-50BD-54FB-31983181B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CC278-EA5F-4338-8FF2-54E33872E2E1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72D174-F19E-7C62-79FA-D16A26ACD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D4C020-A471-BD4F-42F5-574A87FBC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89B37-ACA6-4C6D-83ED-7FD0BAABD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211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3E7ED-7DC6-66BA-EF07-A8C59C931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15C00-6881-83A8-593C-64A11FD4D5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06FEA0-2077-5170-F586-93B7D7F688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606C7E-43B9-933D-17E2-B7399AB83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CC278-EA5F-4338-8FF2-54E33872E2E1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4A28A1-8478-ECD2-BD34-AB98962CD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C4CE46-B7C4-F913-B3AF-8FC45B87E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89B37-ACA6-4C6D-83ED-7FD0BAABD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6546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57D19-4F9B-CA61-95F0-5046F911C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31A29A-25B2-E81D-9461-A8563F7A75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B8275D-5EB7-1B8A-72F5-EC2C0C99C9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8D600E-8026-CB4D-1883-17B8B4EA6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CC278-EA5F-4338-8FF2-54E33872E2E1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5C39E1-BF0E-C749-03E6-EDD71C80F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DD45E4-C2EA-2D90-2BD5-9A8853CD0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89B37-ACA6-4C6D-83ED-7FD0BAABD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0852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C8055-7AD0-141C-5D41-DEDD3D589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BC2C2B-EFCA-1D74-0CB6-82F59B2A60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DC3A2-D2FD-9840-2005-02350A23C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CC278-EA5F-4338-8FF2-54E33872E2E1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80C026-BB3B-85DA-7CFC-FABA14E67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37B76-D1DD-19B9-7EA7-4FD0EF71F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89B37-ACA6-4C6D-83ED-7FD0BAABD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1791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526CF7-5F9E-E2B4-5A72-E6D2EE3B44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1F0D9D-3447-EFB8-EFDE-A58C81A466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72D9BC-970B-6DC3-F755-DF3389F3D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CC278-EA5F-4338-8FF2-54E33872E2E1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E4BBA-758F-CFF5-A0EA-6D6C170BC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9B0FFC-945E-EB0C-DAEA-32873F3F4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89B37-ACA6-4C6D-83ED-7FD0BAABD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0166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DB2FBB-EADC-305F-7C06-E5ED1F8AB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AD15F6-80AD-D82D-0B25-710F5C90F1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D231A-DA10-BDEC-0A58-EFB721E804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6CC278-EA5F-4338-8FF2-54E33872E2E1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4FC96B-BED7-00B4-F750-B64ED013EC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D5121-B20F-5B47-623A-59777DAEF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489B37-ACA6-4C6D-83ED-7FD0BAABD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0680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bstract background of node and mesh">
            <a:extLst>
              <a:ext uri="{FF2B5EF4-FFF2-40B4-BE49-F238E27FC236}">
                <a16:creationId xmlns:a16="http://schemas.microsoft.com/office/drawing/2014/main" id="{4B328062-AA7C-9A3F-13BE-1F95363B06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0F5705-393A-D199-E90E-BFDDBA77A2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91540" y="1883737"/>
            <a:ext cx="9144000" cy="2387600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Customer Churn Analysis &amp; Strategic Insights</a:t>
            </a:r>
            <a:endParaRPr lang="en-IN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7005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bstract background of node and mesh">
            <a:extLst>
              <a:ext uri="{FF2B5EF4-FFF2-40B4-BE49-F238E27FC236}">
                <a16:creationId xmlns:a16="http://schemas.microsoft.com/office/drawing/2014/main" id="{EACF75F7-558B-7731-0893-D6C00DF802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76A6C1D-E9F9-F5CC-7746-08256BA24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                   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BUSINESS PROBLEM</a:t>
            </a:r>
            <a:endParaRPr lang="en-IN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44377-B31A-A30F-C85B-4C78F21C1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Customer Churn as a Strategic Risk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    Customer attrition poses a significant threat to long-term profitability.</a:t>
            </a:r>
            <a:br>
              <a:rPr lang="en-US" sz="2000" dirty="0">
                <a:solidFill>
                  <a:schemeClr val="accent1">
                    <a:lumMod val="40000"/>
                    <a:lumOff val="60000"/>
                  </a:schemeClr>
                </a:solidFill>
              </a:rPr>
            </a:br>
            <a:r>
              <a:rPr lang="en-US" sz="2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     Losing existing customers not only reduces revenue but also increases acquisition costs.</a:t>
            </a:r>
          </a:p>
          <a:p>
            <a:r>
              <a:rPr lang="en-US" sz="20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Customer Churn as a Strategic Risk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     Customer attrition poses a significant threat to long-term profitability.</a:t>
            </a:r>
            <a:br>
              <a:rPr lang="en-US" sz="2000" dirty="0">
                <a:solidFill>
                  <a:schemeClr val="accent1">
                    <a:lumMod val="40000"/>
                    <a:lumOff val="60000"/>
                  </a:schemeClr>
                </a:solidFill>
              </a:rPr>
            </a:br>
            <a:r>
              <a:rPr lang="en-US" sz="2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     Losing existing customers not only reduces revenue but also increases acquisition costs.</a:t>
            </a:r>
          </a:p>
          <a:p>
            <a:r>
              <a:rPr lang="en-US" sz="20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Customer Churn as a Strategic Risk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     </a:t>
            </a:r>
            <a:r>
              <a:rPr lang="en-US" sz="2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Customer attrition poses a significant threat to long-term profitability.</a:t>
            </a:r>
            <a:br>
              <a:rPr lang="en-US" sz="2000" dirty="0">
                <a:solidFill>
                  <a:schemeClr val="accent1">
                    <a:lumMod val="40000"/>
                    <a:lumOff val="60000"/>
                  </a:schemeClr>
                </a:solidFill>
              </a:rPr>
            </a:br>
            <a:r>
              <a:rPr lang="en-US" sz="2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     Losing existing customers not only reduces revenue but also increases acquisition costs.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621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bstract background of node and mesh">
            <a:extLst>
              <a:ext uri="{FF2B5EF4-FFF2-40B4-BE49-F238E27FC236}">
                <a16:creationId xmlns:a16="http://schemas.microsoft.com/office/drawing/2014/main" id="{CFBDF82F-867E-B6D0-E782-F5C2568D80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5D5951D-6447-91B3-7B20-84B0D3763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</a:t>
            </a:r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DATA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21051-F5FD-BB41-6B46-13F41EEFED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    Dataset Summary</a:t>
            </a:r>
          </a:p>
          <a:p>
            <a:r>
              <a:rPr lang="en-US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Total Customers: 10,000</a:t>
            </a:r>
          </a:p>
          <a:p>
            <a:r>
              <a:rPr lang="en-US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Features Analyzed: Demographics, Account Balance, Tenure, Products, Credit Score</a:t>
            </a:r>
          </a:p>
          <a:p>
            <a:r>
              <a:rPr lang="en-US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Target Variable: Customer Churn (Exited: Yes/No)</a:t>
            </a:r>
          </a:p>
          <a:p>
            <a:pPr marL="0" indent="0">
              <a:buNone/>
            </a:pPr>
            <a:endParaRPr lang="en-US" sz="1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r>
              <a:rPr lang="en-US" sz="15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Key Variables Used                                                                                                                  Analytical Approach</a:t>
            </a:r>
          </a:p>
          <a:p>
            <a:pPr marL="0" indent="0">
              <a:buNone/>
            </a:pPr>
            <a:r>
              <a:rPr lang="en-US" sz="15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    Age                                                                                                                                               Exploratory Data Analysis (EDA)</a:t>
            </a:r>
          </a:p>
          <a:p>
            <a:pPr marL="0" indent="0">
              <a:buNone/>
            </a:pPr>
            <a:r>
              <a:rPr lang="en-US" sz="15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   Account Balance                                                                                                                        Customer Segmentation (Balance-Based)</a:t>
            </a:r>
          </a:p>
          <a:p>
            <a:pPr marL="0" indent="0">
              <a:buNone/>
            </a:pPr>
            <a:r>
              <a:rPr lang="en-US" sz="15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   Number of Products                                                                                                                  KPI Development</a:t>
            </a:r>
          </a:p>
          <a:p>
            <a:pPr marL="0" indent="0">
              <a:buNone/>
            </a:pPr>
            <a:r>
              <a:rPr lang="en-US" sz="15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   Credit Score                                                                                                                                 Statistical Validation (Chi-Square Test)</a:t>
            </a:r>
          </a:p>
          <a:p>
            <a:pPr marL="0" indent="0">
              <a:buNone/>
            </a:pPr>
            <a:r>
              <a:rPr lang="en-US" sz="15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   Customer Segment (Low, Medium, High Value)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8309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bstract background of node and mesh">
            <a:extLst>
              <a:ext uri="{FF2B5EF4-FFF2-40B4-BE49-F238E27FC236}">
                <a16:creationId xmlns:a16="http://schemas.microsoft.com/office/drawing/2014/main" id="{B5D56634-0BB9-1EB1-5BF2-3ADA3113B9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B41A80B-6753-7063-EBE7-528F0725C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           CORE KPIs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BF29E-77F7-E7D6-2F71-3E3E36311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Key Performance Indicators</a:t>
            </a:r>
          </a:p>
          <a:p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Overall Churn Rate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    Percentage of customers who have exited the bank.</a:t>
            </a:r>
            <a:b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    Indicates overall retention health.</a:t>
            </a:r>
          </a:p>
          <a:p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Total Customers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     Total active customers in the dataset.</a:t>
            </a:r>
            <a:b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     Provides scale and context for analysis.</a:t>
            </a:r>
          </a:p>
          <a:p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Average Account Balance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      Average balance across all customers.</a:t>
            </a:r>
            <a:b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     Represents revenue potential and deposit strength.</a:t>
            </a:r>
          </a:p>
          <a:p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Segment-wise Churn Rate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      Churn percentage across Low, Medium, and High value segments.</a:t>
            </a:r>
            <a:b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      Helps identify high-risk customer groups.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9911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bstract background of node and mesh">
            <a:extLst>
              <a:ext uri="{FF2B5EF4-FFF2-40B4-BE49-F238E27FC236}">
                <a16:creationId xmlns:a16="http://schemas.microsoft.com/office/drawing/2014/main" id="{0EEF39DE-4715-0A12-2F43-FD59027499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0277531-305B-C253-9AAE-2568AA639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          Segmentation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935E6-BB4C-6848-53CD-8E798C750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1244" y="1794094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Customers were segmented into Low, Medium, and High Value groups based on account balance.</a:t>
            </a:r>
          </a:p>
          <a:p>
            <a:r>
              <a:rPr lang="en-US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Churn rate varies noticeably across segments.</a:t>
            </a:r>
          </a:p>
          <a:p>
            <a:r>
              <a:rPr lang="en-US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Certain segments exhibit significantly higher attrition risk.</a:t>
            </a:r>
          </a:p>
          <a:p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Key Insight</a:t>
            </a:r>
          </a:p>
          <a:p>
            <a:r>
              <a:rPr lang="en-US" sz="22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High-value customers show a meaningful churn presence, posing a potential revenue risk.</a:t>
            </a:r>
          </a:p>
          <a:p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Business Implication</a:t>
            </a:r>
          </a:p>
          <a:p>
            <a:r>
              <a:rPr lang="en-US" sz="22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Retention strategies should prioritize high-risk segments rather than applying a uniform approach across all customers.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2624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bstract background of node and mesh">
            <a:extLst>
              <a:ext uri="{FF2B5EF4-FFF2-40B4-BE49-F238E27FC236}">
                <a16:creationId xmlns:a16="http://schemas.microsoft.com/office/drawing/2014/main" id="{FC91CAC5-B1BD-3DE4-8988-F18A6C73C2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096044-3E7E-738D-230F-1BE28CC20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</a:t>
            </a:r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Hypothesis &amp; Statistical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08447-BF80-7308-0ED3-8C22EC02F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Business Question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Does customer churn significantly differ across customer segments?</a:t>
            </a:r>
          </a:p>
          <a:p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Hypothesis Formulation</a:t>
            </a:r>
          </a:p>
          <a:p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Null Hypothesis (H₀):</a:t>
            </a:r>
            <a:b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There is no significant relationship between customer segment and churn behavior.</a:t>
            </a:r>
          </a:p>
          <a:p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Alternative Hypothesis (H₁):</a:t>
            </a:r>
            <a:b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There is a statistically significant relationship between customer segment and churn behavior.</a:t>
            </a:r>
          </a:p>
          <a:p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Statistical Method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Test Used: </a:t>
            </a: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Chi-Square Test of Independence</a:t>
            </a:r>
            <a:endParaRPr 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Significance Level (α): 0.05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Objective: Determine whether churn behavior depends on customer segment.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4003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bstract background of node and mesh">
            <a:extLst>
              <a:ext uri="{FF2B5EF4-FFF2-40B4-BE49-F238E27FC236}">
                <a16:creationId xmlns:a16="http://schemas.microsoft.com/office/drawing/2014/main" id="{A9B0F3E8-A48E-2FB0-C1DF-C42D6F726E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28DEAC5-B860-719B-52CD-677872C8C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</a:t>
            </a:r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Statistical Results &amp; 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5C601-282A-D67B-48D2-33F7F2C748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Test Results</a:t>
            </a:r>
          </a:p>
          <a:p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Chi-Square Statistic:</a:t>
            </a:r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155.56</a:t>
            </a:r>
          </a:p>
          <a:p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P-value</a:t>
            </a: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: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&lt; 0.001</a:t>
            </a:r>
          </a:p>
          <a:p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Significance Level (α):</a:t>
            </a:r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0.05</a:t>
            </a:r>
          </a:p>
          <a:p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Decision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   Since the p-value is significantly lower than 0.05,</a:t>
            </a:r>
            <a:b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   we reject the Null Hypothesis.</a:t>
            </a:r>
          </a:p>
          <a:p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Business Conclusion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   There is a statistically significant relationship between customer segment and 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    churn </a:t>
            </a:r>
            <a:r>
              <a:rPr lang="en-US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behavoiur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.                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    This confirms that churn is not random and varies meaningfully across  segments    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2079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bstract background of node and mesh">
            <a:extLst>
              <a:ext uri="{FF2B5EF4-FFF2-40B4-BE49-F238E27FC236}">
                <a16:creationId xmlns:a16="http://schemas.microsoft.com/office/drawing/2014/main" id="{ED8BA628-8F2F-A7FE-9762-62E22ED40C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D1B7EC-ED69-6DAD-DBF7-70D9FFE81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Business Recommendations &amp; Call to Action</a:t>
            </a:r>
            <a:endParaRPr lang="en-IN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29D03-F09F-9EA9-B704-B6E7659510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Business Recommendations &amp; Call to </a:t>
            </a:r>
            <a:r>
              <a:rPr lang="en-US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Action</a:t>
            </a:r>
            <a:r>
              <a:rPr lang="en-US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Key</a:t>
            </a: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Insight Recap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Churn significantly differs across customer segments.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High-value customers represent greater revenue risk when they exit.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Statistical testing confirms segmentation is meaningful.</a:t>
            </a:r>
          </a:p>
          <a:p>
            <a:pPr marL="0" indent="0">
              <a:buNone/>
            </a:pPr>
            <a:endParaRPr 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Recommended Actions</a:t>
            </a:r>
          </a:p>
          <a:p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1️⃣ Prioritize High-Value Customer Retention                                                                        2️⃣ Early Warning System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Personalized engagement programs                                                                                        Use churn indicators to flag at-risk customers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Dedicated relationship managers                                                                                              Trigger proactive outreach before exit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Loyalty rewards &amp; premium offers</a:t>
            </a:r>
          </a:p>
          <a:p>
            <a:endParaRPr 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3️⃣ Segment-Based Strategy                                                                                                           Expected Business Impact        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Avoid one-size-fits-all retention campaigns                                                                                     Reduced churn rate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Tailor communication and offers per segment                                                                                Improved customer lifetime value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0910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bstract background of node and mesh">
            <a:extLst>
              <a:ext uri="{FF2B5EF4-FFF2-40B4-BE49-F238E27FC236}">
                <a16:creationId xmlns:a16="http://schemas.microsoft.com/office/drawing/2014/main" id="{0CB3BF8C-90FF-D622-463C-5F580A906A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8468C16-9356-7175-DDD7-ED16635E1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 Conclusion &amp; Strategic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9A3C8-4498-016A-F779-1862EE2130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Final Conclusion</a:t>
            </a:r>
          </a:p>
          <a:p>
            <a:r>
              <a:rPr lang="en-US" sz="2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Customer churn is not random.</a:t>
            </a:r>
          </a:p>
          <a:p>
            <a:r>
              <a:rPr lang="en-US" sz="2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Churn behavior significantly varies across customer segments.</a:t>
            </a:r>
          </a:p>
          <a:p>
            <a:r>
              <a:rPr lang="en-US" sz="2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High-value customers present the greatest financial risk when they exit.</a:t>
            </a:r>
          </a:p>
          <a:p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Strategic Takeaway</a:t>
            </a:r>
          </a:p>
          <a:p>
            <a:r>
              <a:rPr lang="en-US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Data-driven segmentation enables targeted retention strategies that are both efficient and impactful.</a:t>
            </a:r>
          </a:p>
          <a:p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Long-Term Business Value</a:t>
            </a:r>
          </a:p>
          <a:p>
            <a:r>
              <a:rPr lang="en-US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Improved customer lifetime value (CLV)</a:t>
            </a:r>
          </a:p>
          <a:p>
            <a:r>
              <a:rPr lang="en-US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Reduced acquisition costs</a:t>
            </a:r>
          </a:p>
          <a:p>
            <a:r>
              <a:rPr lang="en-US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More stable and predictable revenue streams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06775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bstract background of node and mesh">
            <a:extLst>
              <a:ext uri="{FF2B5EF4-FFF2-40B4-BE49-F238E27FC236}">
                <a16:creationId xmlns:a16="http://schemas.microsoft.com/office/drawing/2014/main" id="{9503540D-529D-A5C0-F478-3C716C19F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CB7336C-BAD3-AE2B-DD27-C30CCFB80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311" y="2532884"/>
            <a:ext cx="10515600" cy="1325563"/>
          </a:xfrm>
        </p:spPr>
        <p:txBody>
          <a:bodyPr/>
          <a:lstStyle/>
          <a:p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                   </a:t>
            </a:r>
            <a:r>
              <a:rPr lang="en-IN" sz="6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24552241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665</Words>
  <Application>Microsoft Office PowerPoint</Application>
  <PresentationFormat>Widescreen</PresentationFormat>
  <Paragraphs>86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Customer Churn Analysis &amp; Strategic Insights</vt:lpstr>
      <vt:lpstr>                    BUSINESS PROBLEM</vt:lpstr>
      <vt:lpstr>                        DATA OVERVIEW</vt:lpstr>
      <vt:lpstr>                   CORE KPIs OVERVIEW</vt:lpstr>
      <vt:lpstr>                  Segmentation Insights</vt:lpstr>
      <vt:lpstr>        Hypothesis &amp; Statistical Framework</vt:lpstr>
      <vt:lpstr>           Statistical Results &amp; Interpretation</vt:lpstr>
      <vt:lpstr>  Business Recommendations &amp; Call to Action</vt:lpstr>
      <vt:lpstr>         Conclusion &amp; Strategic Impact</vt:lpstr>
      <vt:lpstr>                           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sidda gnanacharishma</dc:creator>
  <cp:lastModifiedBy>sidda gnanacharishma</cp:lastModifiedBy>
  <cp:revision>1</cp:revision>
  <dcterms:created xsi:type="dcterms:W3CDTF">2026-02-28T09:49:39Z</dcterms:created>
  <dcterms:modified xsi:type="dcterms:W3CDTF">2026-02-28T10:05:44Z</dcterms:modified>
</cp:coreProperties>
</file>